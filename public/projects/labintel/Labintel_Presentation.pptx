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Sora SemiBold"/>
      <p:regular r:id="rId16"/>
      <p:bold r:id="rId17"/>
    </p:embeddedFont>
    <p:embeddedFont>
      <p:font typeface="Sora ExtraBold"/>
      <p:bold r:id="rId18"/>
    </p:embeddedFont>
    <p:embeddedFont>
      <p:font typeface="Sora"/>
      <p:bold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ra-bold.fntdata"/><Relationship Id="rId6" Type="http://schemas.openxmlformats.org/officeDocument/2006/relationships/slide" Target="slides/slide1.xml"/><Relationship Id="rId18" Type="http://schemas.openxmlformats.org/officeDocument/2006/relationships/font" Target="fonts/Sora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7c7071f4a_9_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f0f282615_0_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f117365ac_0_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117365ac_0_5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1517461f_69_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f1517461f_153_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1517461f_153_6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1517461f_153_7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f1517461f_153_10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1517461f_153_12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0f282615_12_0)">
  <p:cSld name="Generated (g3df0f282615_1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4" title="Screenshot 2026-05-08 1347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386" y="44900"/>
            <a:ext cx="49572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15"/>
          <p:cNvGrpSpPr/>
          <p:nvPr/>
        </p:nvGrpSpPr>
        <p:grpSpPr>
          <a:xfrm>
            <a:off x="4572000" y="0"/>
            <a:ext cx="4572000" cy="5143500"/>
            <a:chOff x="4572000" y="0"/>
            <a:chExt cx="4572000" cy="5143500"/>
          </a:xfrm>
        </p:grpSpPr>
        <p:pic>
          <p:nvPicPr>
            <p:cNvPr id="61" name="Google Shape;61;p15"/>
            <p:cNvPicPr preferRelativeResize="0"/>
            <p:nvPr/>
          </p:nvPicPr>
          <p:blipFill rotWithShape="1">
            <a:blip r:embed="rId4">
              <a:alphaModFix/>
            </a:blip>
            <a:srcRect b="0" l="3335" r="34441" t="0"/>
            <a:stretch/>
          </p:blipFill>
          <p:spPr>
            <a:xfrm>
              <a:off x="4572000" y="0"/>
              <a:ext cx="4572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5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1A527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5"/>
          <p:cNvGrpSpPr/>
          <p:nvPr/>
        </p:nvGrpSpPr>
        <p:grpSpPr>
          <a:xfrm>
            <a:off x="476250" y="666750"/>
            <a:ext cx="3810000" cy="3810000"/>
            <a:chOff x="476250" y="666750"/>
            <a:chExt cx="3810000" cy="3810000"/>
          </a:xfrm>
        </p:grpSpPr>
        <p:sp>
          <p:nvSpPr>
            <p:cNvPr id="64" name="Google Shape;64;p15"/>
            <p:cNvSpPr/>
            <p:nvPr/>
          </p:nvSpPr>
          <p:spPr>
            <a:xfrm>
              <a:off x="476250" y="666750"/>
              <a:ext cx="38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 txBox="1"/>
            <p:nvPr/>
          </p:nvSpPr>
          <p:spPr>
            <a:xfrm>
              <a:off x="476250" y="66675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A5276"/>
                  </a:solidFill>
                  <a:latin typeface="Sora"/>
                  <a:ea typeface="Sora"/>
                  <a:cs typeface="Sora"/>
                  <a:sym typeface="Sora"/>
                </a:rPr>
                <a:t>THE PROBLEM WE SOLVE</a:t>
              </a:r>
              <a:endParaRPr b="1" sz="850">
                <a:solidFill>
                  <a:srgbClr val="1A5276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1A5276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She stared at these numbers for </a:t>
              </a:r>
              <a:r>
                <a:rPr b="0" lang="en" sz="3060">
                  <a:solidFill>
                    <a:srgbClr val="E67E22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2 hours.</a:t>
              </a:r>
              <a:r>
                <a:rPr b="0" lang="en" sz="3060">
                  <a:solidFill>
                    <a:srgbClr val="1A5276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 She still doesn't know if she's okay.</a:t>
              </a:r>
              <a:endParaRPr b="0" sz="3060">
                <a:solidFill>
                  <a:srgbClr val="1A5276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lang="en" sz="1190">
                  <a:solidFill>
                    <a:srgbClr val="5D6D7E"/>
                  </a:solidFill>
                  <a:latin typeface="DM Sans"/>
                  <a:ea typeface="DM Sans"/>
                  <a:cs typeface="DM Sans"/>
                  <a:sym typeface="DM Sans"/>
                </a:rPr>
                <a:t>This happened yesterday. To someone's mother. In every city, town, and village across India.</a:t>
              </a:r>
              <a:endParaRPr b="0" sz="1190">
                <a:solidFill>
                  <a:srgbClr val="5D6D7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>
            <a:off x="476250" y="4572000"/>
            <a:ext cx="1409700" cy="304800"/>
            <a:chOff x="0" y="0"/>
            <a:chExt cx="1409700" cy="3048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5715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14300" y="5715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17145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14300" y="17145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2667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5276"/>
                  </a:solidFill>
                  <a:latin typeface="Sora"/>
                  <a:ea typeface="Sora"/>
                  <a:cs typeface="Sora"/>
                  <a:sym typeface="Sora"/>
                </a:rPr>
                <a:t>LabIntel</a:t>
              </a:r>
              <a:endParaRPr b="1" sz="1800">
                <a:solidFill>
                  <a:srgbClr val="1A5276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inimalist, professional presentation background on a clean white canvas. In the center, a faint, light gray outline of the map of India. The entire area of the map is densely filled with exactly 100,000 tiny, microscopic red circles (Hex: #C0392B), creating a shocking, high-density visualization of data points that perfectly trace the subcontinent's borders. The dots are small enough to look like a texture from a distance but distinct up close.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6"/>
          <p:cNvGrpSpPr/>
          <p:nvPr/>
        </p:nvGrpSpPr>
        <p:grpSpPr>
          <a:xfrm>
            <a:off x="571500" y="1333500"/>
            <a:ext cx="2476500" cy="1619250"/>
            <a:chOff x="571500" y="1333500"/>
            <a:chExt cx="2476500" cy="1619250"/>
          </a:xfrm>
        </p:grpSpPr>
        <p:sp>
          <p:nvSpPr>
            <p:cNvPr id="77" name="Google Shape;77;p16"/>
            <p:cNvSpPr txBox="1"/>
            <p:nvPr/>
          </p:nvSpPr>
          <p:spPr>
            <a:xfrm>
              <a:off x="571500" y="1333500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C0392B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1,00,000+</a:t>
              </a:r>
              <a:endParaRPr b="0" sz="3060">
                <a:solidFill>
                  <a:srgbClr val="C0392B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78" name="Google Shape;78;p16"/>
            <p:cNvSpPr txBox="1"/>
            <p:nvPr/>
          </p:nvSpPr>
          <p:spPr>
            <a:xfrm>
              <a:off x="571500" y="20002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Independent labs in India running on MS Word or paper. Zero intelligent software. Zero patient communication.</a:t>
              </a:r>
              <a:endParaRPr b="0"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9" name="Google Shape;79;p16"/>
          <p:cNvGrpSpPr/>
          <p:nvPr/>
        </p:nvGrpSpPr>
        <p:grpSpPr>
          <a:xfrm>
            <a:off x="3333750" y="1333500"/>
            <a:ext cx="2476500" cy="1619250"/>
            <a:chOff x="3333750" y="1333500"/>
            <a:chExt cx="2476500" cy="1619250"/>
          </a:xfrm>
        </p:grpSpPr>
        <p:sp>
          <p:nvSpPr>
            <p:cNvPr id="80" name="Google Shape;80;p16"/>
            <p:cNvSpPr txBox="1"/>
            <p:nvPr/>
          </p:nvSpPr>
          <p:spPr>
            <a:xfrm>
              <a:off x="3333750" y="1333500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B7770D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3 Hours</a:t>
              </a:r>
              <a:endParaRPr b="0" sz="3060">
                <a:solidFill>
                  <a:srgbClr val="B7770D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3333750" y="20002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Wasted every morning on manual report typing. Per lab. Every day. 700 hours per year. Gone.</a:t>
              </a:r>
              <a:endParaRPr b="0"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6096000" y="1333500"/>
            <a:ext cx="2476500" cy="1619250"/>
            <a:chOff x="6096000" y="1333500"/>
            <a:chExt cx="2476500" cy="1619250"/>
          </a:xfrm>
        </p:grpSpPr>
        <p:sp>
          <p:nvSpPr>
            <p:cNvPr id="83" name="Google Shape;83;p16"/>
            <p:cNvSpPr txBox="1"/>
            <p:nvPr/>
          </p:nvSpPr>
          <p:spPr>
            <a:xfrm>
              <a:off x="6096000" y="1333500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16A085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500 Million</a:t>
              </a:r>
              <a:endParaRPr b="0" sz="3060">
                <a:solidFill>
                  <a:srgbClr val="16A085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6096000" y="2000250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Indians who leave a lab every year holding a report they do not understand. Not one person to explain it.</a:t>
              </a:r>
              <a:endParaRPr b="0"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85" name="Google Shape;85;p16"/>
          <p:cNvCxnSpPr/>
          <p:nvPr/>
        </p:nvCxnSpPr>
        <p:spPr>
          <a:xfrm>
            <a:off x="571500" y="43815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6"/>
          <p:cNvSpPr txBox="1"/>
          <p:nvPr/>
        </p:nvSpPr>
        <p:spPr>
          <a:xfrm>
            <a:off x="571500" y="45243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5D6D7E"/>
                </a:solidFill>
                <a:latin typeface="DM Sans"/>
                <a:ea typeface="DM Sans"/>
                <a:cs typeface="DM Sans"/>
                <a:sym typeface="DM Sans"/>
              </a:rPr>
              <a:t>Three separate crises. One broken system. Zero solutions built for the people who suffer most.</a:t>
            </a:r>
            <a:endParaRPr b="0" i="1" sz="1000">
              <a:solidFill>
                <a:srgbClr val="5D6D7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571500" y="361950"/>
            <a:ext cx="1409700" cy="285900"/>
            <a:chOff x="571500" y="361950"/>
            <a:chExt cx="1409700" cy="285900"/>
          </a:xfrm>
        </p:grpSpPr>
        <p:sp>
          <p:nvSpPr>
            <p:cNvPr id="88" name="Google Shape;88;p16"/>
            <p:cNvSpPr/>
            <p:nvPr/>
          </p:nvSpPr>
          <p:spPr>
            <a:xfrm>
              <a:off x="571500" y="38100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685800" y="38100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571500" y="49530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685800" y="49530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838200" y="36195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5276"/>
                  </a:solidFill>
                  <a:latin typeface="Sora"/>
                  <a:ea typeface="Sora"/>
                  <a:cs typeface="Sora"/>
                  <a:sym typeface="Sora"/>
                </a:rPr>
                <a:t>LabIntel</a:t>
              </a:r>
              <a:endParaRPr b="1" sz="1600">
                <a:solidFill>
                  <a:srgbClr val="1A5276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953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0" y="-4762"/>
            <a:ext cx="800100" cy="514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7"/>
          <p:cNvGrpSpPr/>
          <p:nvPr/>
        </p:nvGrpSpPr>
        <p:grpSpPr>
          <a:xfrm>
            <a:off x="381000" y="476250"/>
            <a:ext cx="3619500" cy="3810000"/>
            <a:chOff x="381000" y="476250"/>
            <a:chExt cx="3619500" cy="3810000"/>
          </a:xfrm>
        </p:grpSpPr>
        <p:sp>
          <p:nvSpPr>
            <p:cNvPr id="100" name="Google Shape;100;p17"/>
            <p:cNvSpPr txBox="1"/>
            <p:nvPr/>
          </p:nvSpPr>
          <p:spPr>
            <a:xfrm>
              <a:off x="381000" y="47625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WHAT A PATIENT RECEIVES TODAY</a:t>
              </a:r>
              <a:endParaRPr b="0" sz="28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71500" y="1524000"/>
              <a:ext cx="3048000" cy="17145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714375" y="1666875"/>
              <a:ext cx="2762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LABORATORY REPORT</a:t>
              </a:r>
              <a:endParaRPr b="1" sz="1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Hemoglobin: </a:t>
              </a:r>
              <a:r>
                <a:rPr b="1" lang="en" sz="1100">
                  <a:solidFill>
                    <a:srgbClr val="C039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9.4 g/dL</a:t>
              </a:r>
              <a:endParaRPr b="1" sz="1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F8C8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Range: 12.0 – 16.0</a:t>
              </a:r>
              <a:endParaRPr b="0" sz="800">
                <a:solidFill>
                  <a:srgbClr val="7F8C8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Serum Creatinine: </a:t>
              </a:r>
              <a:r>
                <a:rPr b="1" lang="en" sz="1100">
                  <a:solidFill>
                    <a:srgbClr val="C039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3.8 mg/dL</a:t>
              </a:r>
              <a:endParaRPr b="1" sz="1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F8C8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Range: 0.7 – 1.2</a:t>
              </a:r>
              <a:endParaRPr b="0" sz="800">
                <a:solidFill>
                  <a:srgbClr val="7F8C8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WBC Count: 7200 /µL</a:t>
              </a:r>
              <a:endParaRPr b="1" sz="1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7F8C8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Range: 4500 – 11000</a:t>
              </a:r>
              <a:endParaRPr b="0" sz="800">
                <a:solidFill>
                  <a:srgbClr val="7F8C8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571500" y="33337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Dense numbers. Clinical jargon. Zero context.</a:t>
              </a:r>
              <a:endParaRPr b="0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Patient goes home.</a:t>
              </a:r>
              <a:endParaRPr b="0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Patient worries alone.</a:t>
              </a:r>
              <a:endParaRPr b="0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4" name="Google Shape;104;p17"/>
          <p:cNvGrpSpPr/>
          <p:nvPr/>
        </p:nvGrpSpPr>
        <p:grpSpPr>
          <a:xfrm>
            <a:off x="5143500" y="476250"/>
            <a:ext cx="3619500" cy="4286250"/>
            <a:chOff x="5143500" y="476250"/>
            <a:chExt cx="3619500" cy="428625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5143500" y="476250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WHAT SHE ACTUALLY NEEDS</a:t>
              </a:r>
              <a:endParaRPr b="0" sz="28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5143500" y="1619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✓ What does this number mean for my body?</a:t>
              </a:r>
              <a:endParaRPr b="0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✓ Is this dangerous or is this okay?</a:t>
              </a:r>
              <a:endParaRPr b="0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✓ What should I do next?</a:t>
              </a:r>
              <a:endParaRPr b="0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5143500" y="4191000"/>
              <a:ext cx="361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lab software in India answers these questions.</a:t>
              </a:r>
              <a:endParaRPr b="0" i="1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Until now.</a:t>
              </a:r>
              <a:endParaRPr b="1" i="0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8" name="Google Shape;108;p17"/>
          <p:cNvGrpSpPr/>
          <p:nvPr/>
        </p:nvGrpSpPr>
        <p:grpSpPr>
          <a:xfrm>
            <a:off x="381000" y="4667250"/>
            <a:ext cx="1190625" cy="238200"/>
            <a:chOff x="381000" y="4667250"/>
            <a:chExt cx="1190625" cy="238200"/>
          </a:xfrm>
        </p:grpSpPr>
        <p:sp>
          <p:nvSpPr>
            <p:cNvPr id="109" name="Google Shape;109;p17"/>
            <p:cNvSpPr/>
            <p:nvPr/>
          </p:nvSpPr>
          <p:spPr>
            <a:xfrm>
              <a:off x="381000" y="4714875"/>
              <a:ext cx="76200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476250" y="4714875"/>
              <a:ext cx="76200" cy="762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381000" y="4810125"/>
              <a:ext cx="76200" cy="762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476250" y="4810125"/>
              <a:ext cx="76200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619125" y="4667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LabIntel</a:t>
              </a:r>
              <a:endParaRPr b="1" sz="12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381000" y="361950"/>
            <a:ext cx="1409700" cy="285900"/>
            <a:chOff x="381000" y="361950"/>
            <a:chExt cx="1409700" cy="285900"/>
          </a:xfrm>
        </p:grpSpPr>
        <p:sp>
          <p:nvSpPr>
            <p:cNvPr id="118" name="Google Shape;118;p18"/>
            <p:cNvSpPr/>
            <p:nvPr/>
          </p:nvSpPr>
          <p:spPr>
            <a:xfrm>
              <a:off x="381000" y="38100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495300" y="38100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381000" y="49530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495300" y="49530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647700" y="361950"/>
              <a:ext cx="1143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LabIntel</a:t>
              </a:r>
              <a:endParaRPr b="1" sz="16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23" name="Google Shape;123;p18"/>
          <p:cNvGrpSpPr/>
          <p:nvPr/>
        </p:nvGrpSpPr>
        <p:grpSpPr>
          <a:xfrm>
            <a:off x="381000" y="952500"/>
            <a:ext cx="8382000" cy="1809750"/>
            <a:chOff x="381000" y="952500"/>
            <a:chExt cx="8382000" cy="1809750"/>
          </a:xfrm>
        </p:grpSpPr>
        <p:sp>
          <p:nvSpPr>
            <p:cNvPr id="124" name="Google Shape;124;p18"/>
            <p:cNvSpPr txBox="1"/>
            <p:nvPr/>
          </p:nvSpPr>
          <p:spPr>
            <a:xfrm>
              <a:off x="381000" y="952500"/>
              <a:ext cx="8382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720" u="none" strike="noStrike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Reimagining Healthcare </a:t>
              </a:r>
              <a:r>
                <a:rPr b="0" i="0" lang="en" sz="3720" u="none" strike="noStrike">
                  <a:solidFill>
                    <a:srgbClr val="2ECC71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for Every Indian</a:t>
              </a:r>
              <a:endParaRPr b="0" i="0" sz="3720" u="none" strike="noStrike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  <p:sp>
          <p:nvSpPr>
            <p:cNvPr id="125" name="Google Shape;125;p18"/>
            <p:cNvSpPr txBox="1"/>
            <p:nvPr/>
          </p:nvSpPr>
          <p:spPr>
            <a:xfrm>
              <a:off x="381000" y="200025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lab's complete operations platform. The patient's lifelong health record. One system. Every lab in India. Every patient they serve.</a:t>
              </a:r>
              <a:endParaRPr b="0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6" name="Google Shape;126;p18"/>
          <p:cNvGrpSpPr/>
          <p:nvPr/>
        </p:nvGrpSpPr>
        <p:grpSpPr>
          <a:xfrm>
            <a:off x="381000" y="3048000"/>
            <a:ext cx="8382150" cy="1714500"/>
            <a:chOff x="381000" y="3048000"/>
            <a:chExt cx="8382150" cy="1714500"/>
          </a:xfrm>
        </p:grpSpPr>
        <p:sp>
          <p:nvSpPr>
            <p:cNvPr id="127" name="Google Shape;127;p18"/>
            <p:cNvSpPr/>
            <p:nvPr/>
          </p:nvSpPr>
          <p:spPr>
            <a:xfrm>
              <a:off x="381000" y="3048000"/>
              <a:ext cx="2571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571500" y="3238500"/>
              <a:ext cx="21909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6A085"/>
                  </a:solidFill>
                  <a:latin typeface="Sora"/>
                  <a:ea typeface="Sora"/>
                  <a:cs typeface="Sora"/>
                  <a:sym typeface="Sora"/>
                </a:rPr>
                <a:t>2-Minute</a:t>
              </a:r>
              <a:endParaRPr b="1" sz="1600">
                <a:solidFill>
                  <a:srgbClr val="16A085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5276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Reports</a:t>
              </a:r>
              <a:endParaRPr b="0" sz="1300">
                <a:solidFill>
                  <a:srgbClr val="1A5276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6D7E"/>
                  </a:solidFill>
                  <a:latin typeface="DM Sans"/>
                  <a:ea typeface="DM Sans"/>
                  <a:cs typeface="DM Sans"/>
                  <a:sym typeface="DM Sans"/>
                </a:rPr>
                <a:t>Lightning-fast digital delivery from tier-2 cities to rural districts.</a:t>
              </a:r>
              <a:endParaRPr b="0" sz="1000">
                <a:solidFill>
                  <a:srgbClr val="5D6D7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3286125" y="3048000"/>
              <a:ext cx="2571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3476625" y="3238500"/>
              <a:ext cx="21909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6A085"/>
                  </a:solidFill>
                  <a:latin typeface="Sora"/>
                  <a:ea typeface="Sora"/>
                  <a:cs typeface="Sora"/>
                  <a:sym typeface="Sora"/>
                </a:rPr>
                <a:t>AI Insights</a:t>
              </a:r>
              <a:endParaRPr b="1" sz="1600">
                <a:solidFill>
                  <a:srgbClr val="16A085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5276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on every result</a:t>
              </a:r>
              <a:endParaRPr b="0" sz="1300">
                <a:solidFill>
                  <a:srgbClr val="1A5276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6D7E"/>
                  </a:solidFill>
                  <a:latin typeface="DM Sans"/>
                  <a:ea typeface="DM Sans"/>
                  <a:cs typeface="DM Sans"/>
                  <a:sym typeface="DM Sans"/>
                </a:rPr>
                <a:t>Powered by intelligent reporting built specifically for Indian labs.</a:t>
              </a:r>
              <a:endParaRPr b="0" sz="1000">
                <a:solidFill>
                  <a:srgbClr val="5D6D7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6191250" y="3048000"/>
              <a:ext cx="2571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6381750" y="3238500"/>
              <a:ext cx="21909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6A085"/>
                  </a:solidFill>
                  <a:latin typeface="Sora"/>
                  <a:ea typeface="Sora"/>
                  <a:cs typeface="Sora"/>
                  <a:sym typeface="Sora"/>
                </a:rPr>
                <a:t>Health Spine</a:t>
              </a:r>
              <a:endParaRPr b="1" sz="1600">
                <a:solidFill>
                  <a:srgbClr val="16A085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5276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Cross-lab patient records</a:t>
              </a:r>
              <a:endParaRPr b="0" sz="1300">
                <a:solidFill>
                  <a:srgbClr val="1A5276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6D7E"/>
                  </a:solidFill>
                  <a:latin typeface="DM Sans"/>
                  <a:ea typeface="DM Sans"/>
                  <a:cs typeface="DM Sans"/>
                  <a:sym typeface="DM Sans"/>
                </a:rPr>
                <a:t>A unified clinical history that follows the patient everywhere.</a:t>
              </a:r>
              <a:endParaRPr b="0" sz="1000">
                <a:solidFill>
                  <a:srgbClr val="5D6D7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A5276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The Feature That No One Else Has</a:t>
            </a:r>
            <a:endParaRPr b="0" sz="3200">
              <a:solidFill>
                <a:srgbClr val="1A5276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grpSp>
        <p:nvGrpSpPr>
          <p:cNvPr id="138" name="Google Shape;138;p19"/>
          <p:cNvGrpSpPr/>
          <p:nvPr/>
        </p:nvGrpSpPr>
        <p:grpSpPr>
          <a:xfrm>
            <a:off x="571500" y="1143000"/>
            <a:ext cx="2571900" cy="3238500"/>
            <a:chOff x="571500" y="1143000"/>
            <a:chExt cx="2571900" cy="3238500"/>
          </a:xfrm>
        </p:grpSpPr>
        <p:sp>
          <p:nvSpPr>
            <p:cNvPr id="139" name="Google Shape;139;p19"/>
            <p:cNvSpPr/>
            <p:nvPr/>
          </p:nvSpPr>
          <p:spPr>
            <a:xfrm>
              <a:off x="571500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" name="Google Shape;14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143000"/>
              <a:ext cx="25719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9"/>
            <p:cNvSpPr txBox="1"/>
            <p:nvPr/>
          </p:nvSpPr>
          <p:spPr>
            <a:xfrm>
              <a:off x="762000" y="1381125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A527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mic</a:t>
              </a:r>
              <a:endParaRPr sz="3200">
                <a:solidFill>
                  <a:srgbClr val="1A527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A5276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Voice Report Narration</a:t>
              </a:r>
              <a:endParaRPr b="0" sz="1600">
                <a:solidFill>
                  <a:srgbClr val="1A5276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The patient presses one button. Their entire report is read aloud in Hindi, Bengali, Tamil, or Telugu in a natural conversational voice.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085"/>
                  </a:solidFill>
                  <a:latin typeface="Sora"/>
                  <a:ea typeface="Sora"/>
                  <a:cs typeface="Sora"/>
                  <a:sym typeface="Sora"/>
                </a:rPr>
                <a:t>Why it matters</a:t>
              </a:r>
              <a:endParaRPr b="1" sz="1000">
                <a:solidFill>
                  <a:srgbClr val="16A085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300 million Indians cannot fully read a medical report. Every single one can hear it.</a:t>
              </a:r>
              <a:endParaRPr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3286125" y="1143000"/>
            <a:ext cx="2571900" cy="3238500"/>
            <a:chOff x="3286125" y="1143000"/>
            <a:chExt cx="2571900" cy="3238500"/>
          </a:xfrm>
        </p:grpSpPr>
        <p:sp>
          <p:nvSpPr>
            <p:cNvPr id="143" name="Google Shape;143;p19"/>
            <p:cNvSpPr/>
            <p:nvPr/>
          </p:nvSpPr>
          <p:spPr>
            <a:xfrm>
              <a:off x="3286125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" name="Google Shape;14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86125" y="1143000"/>
              <a:ext cx="25719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9"/>
            <p:cNvSpPr txBox="1"/>
            <p:nvPr/>
          </p:nvSpPr>
          <p:spPr>
            <a:xfrm>
              <a:off x="3476625" y="1381125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6A08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photo_camera</a:t>
              </a:r>
              <a:endParaRPr sz="3200">
                <a:solidFill>
                  <a:srgbClr val="16A08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6A085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Upload Any Report</a:t>
              </a:r>
              <a:endParaRPr b="0" sz="1600">
                <a:solidFill>
                  <a:srgbClr val="16A085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Photograph any paper lab report. Gemini Vision reads it and returns a complete plain-language explanation in 15 seconds.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E67E22"/>
                  </a:solidFill>
                  <a:latin typeface="Sora"/>
                  <a:ea typeface="Sora"/>
                  <a:cs typeface="Sora"/>
                  <a:sym typeface="Sora"/>
                </a:rPr>
                <a:t>Why it matters</a:t>
              </a:r>
              <a:endParaRPr b="1" sz="1000">
                <a:solidFill>
                  <a:srgbClr val="E67E22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Every confused patient in India — regardless of which lab they use — is now a LabIntel user.</a:t>
              </a:r>
              <a:endParaRPr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6" name="Google Shape;146;p19"/>
          <p:cNvGrpSpPr/>
          <p:nvPr/>
        </p:nvGrpSpPr>
        <p:grpSpPr>
          <a:xfrm>
            <a:off x="6000750" y="1143000"/>
            <a:ext cx="2571900" cy="3238500"/>
            <a:chOff x="6000750" y="1143000"/>
            <a:chExt cx="2571900" cy="3238500"/>
          </a:xfrm>
        </p:grpSpPr>
        <p:sp>
          <p:nvSpPr>
            <p:cNvPr id="147" name="Google Shape;147;p19"/>
            <p:cNvSpPr/>
            <p:nvPr/>
          </p:nvSpPr>
          <p:spPr>
            <a:xfrm>
              <a:off x="6000750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8" name="Google Shape;14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0750" y="1143000"/>
              <a:ext cx="25719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9"/>
            <p:cNvSpPr txBox="1"/>
            <p:nvPr/>
          </p:nvSpPr>
          <p:spPr>
            <a:xfrm>
              <a:off x="6191250" y="1381125"/>
              <a:ext cx="21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6C348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show_chart</a:t>
              </a:r>
              <a:endParaRPr sz="3200">
                <a:solidFill>
                  <a:srgbClr val="6C348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6C3483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Health Risk Score</a:t>
              </a:r>
              <a:endParaRPr b="0" sz="1600">
                <a:solidFill>
                  <a:srgbClr val="6C3483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Across all labs, all visits, all time — LabIntel generates a dynamic biomarker risk score showing trends across vital organs.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0392B"/>
                  </a:solidFill>
                  <a:latin typeface="Sora"/>
                  <a:ea typeface="Sora"/>
                  <a:cs typeface="Sora"/>
                  <a:sym typeface="Sora"/>
                </a:rPr>
                <a:t>Why it matters</a:t>
              </a:r>
              <a:endParaRPr b="1" sz="1000">
                <a:solidFill>
                  <a:srgbClr val="C0392B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The first time in India that a patient can see their health as a story, not isolated events.</a:t>
              </a:r>
              <a:endParaRPr sz="10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0" name="Google Shape;150;p19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4667250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rPr>
              <a:t>These three features do not exist in any Indian lab software today. We built all three. They are live.</a:t>
            </a:r>
            <a:endParaRPr b="0" sz="1200">
              <a:solidFill>
                <a:srgbClr val="FFFFFF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How We Built It</a:t>
            </a:r>
            <a:endParaRPr b="0" sz="240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2ECC71"/>
                </a:solidFill>
                <a:latin typeface="Sora"/>
                <a:ea typeface="Sora"/>
                <a:cs typeface="Sora"/>
                <a:sym typeface="Sora"/>
              </a:rPr>
              <a:t>In 10 days. 3 groups. 10 engineers. Zero infrastructure cost.</a:t>
            </a:r>
            <a:endParaRPr b="0" sz="1400">
              <a:solidFill>
                <a:srgbClr val="2ECC7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56" name="Google Shape;156;p20"/>
          <p:cNvGrpSpPr/>
          <p:nvPr/>
        </p:nvGrpSpPr>
        <p:grpSpPr>
          <a:xfrm>
            <a:off x="952500" y="1333500"/>
            <a:ext cx="3429000" cy="3048000"/>
            <a:chOff x="952500" y="1333500"/>
            <a:chExt cx="3429000" cy="3048000"/>
          </a:xfrm>
        </p:grpSpPr>
        <p:sp>
          <p:nvSpPr>
            <p:cNvPr id="157" name="Google Shape;157;p20"/>
            <p:cNvSpPr/>
            <p:nvPr/>
          </p:nvSpPr>
          <p:spPr>
            <a:xfrm>
              <a:off x="952500" y="1333500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952500" y="133350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BROWSER (React 18 + Vite)</a:t>
              </a:r>
              <a:endParaRPr b="1" sz="10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labintel.in • slug.labintel.in</a:t>
              </a:r>
              <a:endParaRPr sz="8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2ECC71"/>
                  </a:solidFill>
                  <a:latin typeface="Sora"/>
                  <a:ea typeface="Sora"/>
                  <a:cs typeface="Sora"/>
                  <a:sym typeface="Sora"/>
                </a:rPr>
                <a:t>Patient App | Lab Portal App</a:t>
              </a:r>
              <a:endParaRPr sz="800">
                <a:solidFill>
                  <a:srgbClr val="2ECC7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159" name="Google Shape;1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14613" y="2000250"/>
              <a:ext cx="1047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0"/>
            <p:cNvSpPr txBox="1"/>
            <p:nvPr/>
          </p:nvSpPr>
          <p:spPr>
            <a:xfrm>
              <a:off x="2714625" y="2076450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 / REST</a:t>
              </a:r>
              <a:endParaRPr b="1"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952500" y="2381250"/>
              <a:ext cx="3429000" cy="952500"/>
            </a:xfrm>
            <a:prstGeom prst="roundRect">
              <a:avLst>
                <a:gd fmla="val 4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0"/>
            <p:cNvSpPr txBox="1"/>
            <p:nvPr/>
          </p:nvSpPr>
          <p:spPr>
            <a:xfrm>
              <a:off x="952500" y="238125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EXPRESS API (Node.js 20)</a:t>
              </a:r>
              <a:endParaRPr b="1" sz="10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Auth • Patients • Reports • Analytics • Settings</a:t>
              </a:r>
              <a:endParaRPr sz="8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1C40F"/>
                  </a:solidFill>
                  <a:latin typeface="Sora"/>
                  <a:ea typeface="Sora"/>
                  <a:cs typeface="Sora"/>
                  <a:sym typeface="Sora"/>
                </a:rPr>
                <a:t>Groq AI ⟷ Puppeteer PDF</a:t>
              </a:r>
              <a:endParaRPr sz="800">
                <a:solidFill>
                  <a:srgbClr val="F1C40F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163" name="Google Shape;16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43113" y="3333750"/>
              <a:ext cx="104700" cy="36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86113" y="3333750"/>
              <a:ext cx="1047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0"/>
            <p:cNvSpPr/>
            <p:nvPr/>
          </p:nvSpPr>
          <p:spPr>
            <a:xfrm>
              <a:off x="952500" y="3619500"/>
              <a:ext cx="1524000" cy="762000"/>
            </a:xfrm>
            <a:prstGeom prst="roundRect">
              <a:avLst>
                <a:gd fmla="val 5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952500" y="3619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498DB"/>
                  </a:solidFill>
                  <a:latin typeface="Sora"/>
                  <a:ea typeface="Sora"/>
                  <a:cs typeface="Sora"/>
                  <a:sym typeface="Sora"/>
                </a:rPr>
                <a:t>Supabase</a:t>
              </a:r>
              <a:endParaRPr b="1" sz="900">
                <a:solidFill>
                  <a:srgbClr val="3498DB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PostgreSQL + Storage</a:t>
              </a:r>
              <a:b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</a:br>
              <a: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Auth (RLS Enforced)</a:t>
              </a:r>
              <a:endParaRPr sz="7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857500" y="3619500"/>
              <a:ext cx="1524000" cy="762000"/>
            </a:xfrm>
            <a:prstGeom prst="roundRect">
              <a:avLst>
                <a:gd fmla="val 5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2857500" y="3619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B59B6"/>
                  </a:solidFill>
                  <a:latin typeface="Sora"/>
                  <a:ea typeface="Sora"/>
                  <a:cs typeface="Sora"/>
                  <a:sym typeface="Sora"/>
                </a:rPr>
                <a:t>External APIs</a:t>
              </a:r>
              <a:endParaRPr b="1" sz="900">
                <a:solidFill>
                  <a:srgbClr val="9B59B6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Groq AI (LLM)</a:t>
              </a:r>
              <a:b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</a:br>
              <a:r>
                <a:rPr lang="en" sz="7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Twilio (OTP) • WhatsApp</a:t>
              </a:r>
              <a:endParaRPr sz="7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69" name="Google Shape;169;p20"/>
          <p:cNvGrpSpPr/>
          <p:nvPr/>
        </p:nvGrpSpPr>
        <p:grpSpPr>
          <a:xfrm>
            <a:off x="5143500" y="1238250"/>
            <a:ext cx="3619500" cy="809700"/>
            <a:chOff x="0" y="0"/>
            <a:chExt cx="3619500" cy="809700"/>
          </a:xfrm>
        </p:grpSpPr>
        <p:sp>
          <p:nvSpPr>
            <p:cNvPr id="170" name="Google Shape;170;p20"/>
            <p:cNvSpPr/>
            <p:nvPr/>
          </p:nvSpPr>
          <p:spPr>
            <a:xfrm>
              <a:off x="0" y="0"/>
              <a:ext cx="3619500" cy="809700"/>
            </a:xfrm>
            <a:prstGeom prst="roundRect">
              <a:avLst>
                <a:gd fmla="val 941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3498D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190500" y="9525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498DB"/>
                  </a:solidFill>
                  <a:latin typeface="Sora"/>
                  <a:ea typeface="Sora"/>
                  <a:cs typeface="Sora"/>
                  <a:sym typeface="Sora"/>
                </a:rPr>
                <a:t>Multi-Tenant</a:t>
              </a:r>
              <a:endParaRPr b="1" sz="900">
                <a:solidFill>
                  <a:srgbClr val="3498DB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Every lab is isolated. Staff at Lab A cannot see Lab B data at the database layer. Supabase Row-Level Security enforces it.</a:t>
              </a:r>
              <a:endParaRPr b="0" sz="9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5143500" y="2143125"/>
            <a:ext cx="3619500" cy="809700"/>
            <a:chOff x="0" y="0"/>
            <a:chExt cx="3619500" cy="809700"/>
          </a:xfrm>
        </p:grpSpPr>
        <p:sp>
          <p:nvSpPr>
            <p:cNvPr id="174" name="Google Shape;174;p20"/>
            <p:cNvSpPr/>
            <p:nvPr/>
          </p:nvSpPr>
          <p:spPr>
            <a:xfrm>
              <a:off x="0" y="0"/>
              <a:ext cx="3619500" cy="809700"/>
            </a:xfrm>
            <a:prstGeom prst="roundRect">
              <a:avLst>
                <a:gd fmla="val 941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16A08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190500" y="9525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6A085"/>
                  </a:solidFill>
                  <a:latin typeface="Sora"/>
                  <a:ea typeface="Sora"/>
                  <a:cs typeface="Sora"/>
                  <a:sym typeface="Sora"/>
                </a:rPr>
                <a:t>Dual Auth System</a:t>
              </a:r>
              <a:endParaRPr b="1" sz="900">
                <a:solidFill>
                  <a:srgbClr val="16A085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Staff: Supabase Auth (email+pass). Patients: Custom JWT (phone+OTP). Two separate flows, one backend.</a:t>
              </a:r>
              <a:endParaRPr b="0" sz="9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5143500" y="3048000"/>
            <a:ext cx="3619500" cy="809700"/>
            <a:chOff x="0" y="0"/>
            <a:chExt cx="3619500" cy="809700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3619500" cy="809700"/>
            </a:xfrm>
            <a:prstGeom prst="roundRect">
              <a:avLst>
                <a:gd fmla="val 941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90500" y="9525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E67E22"/>
                  </a:solidFill>
                  <a:latin typeface="Sora"/>
                  <a:ea typeface="Sora"/>
                  <a:cs typeface="Sora"/>
                  <a:sym typeface="Sora"/>
                </a:rPr>
                <a:t>Global Patient Record</a:t>
              </a:r>
              <a:endParaRPr b="1" sz="900">
                <a:solidFill>
                  <a:srgbClr val="E67E22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Universal identity via Phone. One patient, any lab, full history. Always accessible across the platform.</a:t>
              </a:r>
              <a:endParaRPr b="0" sz="9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5143500" y="3952875"/>
            <a:ext cx="3619500" cy="809700"/>
            <a:chOff x="0" y="0"/>
            <a:chExt cx="3619500" cy="8097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3619500" cy="809700"/>
            </a:xfrm>
            <a:prstGeom prst="roundRect">
              <a:avLst>
                <a:gd fmla="val 941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9B59B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190500" y="9525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B59B6"/>
                  </a:solidFill>
                  <a:latin typeface="Sora"/>
                  <a:ea typeface="Sora"/>
                  <a:cs typeface="Sora"/>
                  <a:sym typeface="Sora"/>
                </a:rPr>
                <a:t>Free Tier Stack</a:t>
              </a:r>
              <a:endParaRPr b="1" sz="900">
                <a:solidFill>
                  <a:srgbClr val="9B59B6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Vercel + Render + Supabase + Groq. ₹0 infrastructure cost to build and pilot this entire platform.</a:t>
              </a:r>
              <a:endParaRPr b="0" sz="9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381000" y="4648200"/>
            <a:ext cx="1219200" cy="228750"/>
            <a:chOff x="0" y="-19050"/>
            <a:chExt cx="1219200" cy="22875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114300" y="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0" y="114300"/>
              <a:ext cx="95400" cy="95400"/>
            </a:xfrm>
            <a:prstGeom prst="rect">
              <a:avLst/>
            </a:prstGeom>
            <a:solidFill>
              <a:srgbClr val="1A527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14300" y="114300"/>
              <a:ext cx="95400" cy="9540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266700" y="-190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LabIntel</a:t>
              </a:r>
              <a:endParaRPr b="1" sz="14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1"/>
          <p:cNvGrpSpPr/>
          <p:nvPr/>
        </p:nvGrpSpPr>
        <p:grpSpPr>
          <a:xfrm>
            <a:off x="381000" y="285750"/>
            <a:ext cx="8477250" cy="762000"/>
            <a:chOff x="381000" y="285750"/>
            <a:chExt cx="8477250" cy="762000"/>
          </a:xfrm>
        </p:grpSpPr>
        <p:sp>
          <p:nvSpPr>
            <p:cNvPr id="195" name="Google Shape;195;p21"/>
            <p:cNvSpPr txBox="1"/>
            <p:nvPr/>
          </p:nvSpPr>
          <p:spPr>
            <a:xfrm>
              <a:off x="381000" y="28575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Unit Economics &amp; Market</a:t>
              </a:r>
              <a:endParaRPr b="0" sz="26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ECC71"/>
                  </a:solidFill>
                  <a:latin typeface="Sora"/>
                  <a:ea typeface="Sora"/>
                  <a:cs typeface="Sora"/>
                  <a:sym typeface="Sora"/>
                </a:rPr>
                <a:t>₹999/mo replaces ₹0 tech &amp; 700 hours wasted</a:t>
              </a:r>
              <a:endParaRPr b="0" sz="1400">
                <a:solidFill>
                  <a:srgbClr val="2ECC7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grpSp>
          <p:nvGrpSpPr>
            <p:cNvPr id="196" name="Google Shape;196;p21"/>
            <p:cNvGrpSpPr/>
            <p:nvPr/>
          </p:nvGrpSpPr>
          <p:grpSpPr>
            <a:xfrm>
              <a:off x="7620000" y="285750"/>
              <a:ext cx="1238250" cy="285900"/>
              <a:chOff x="0" y="-47625"/>
              <a:chExt cx="1238250" cy="285900"/>
            </a:xfrm>
          </p:grpSpPr>
          <p:sp>
            <p:nvSpPr>
              <p:cNvPr id="197" name="Google Shape;197;p21"/>
              <p:cNvSpPr/>
              <p:nvPr/>
            </p:nvSpPr>
            <p:spPr>
              <a:xfrm>
                <a:off x="0" y="0"/>
                <a:ext cx="95400" cy="95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1"/>
              <p:cNvSpPr/>
              <p:nvPr/>
            </p:nvSpPr>
            <p:spPr>
              <a:xfrm>
                <a:off x="114300" y="0"/>
                <a:ext cx="95400" cy="95400"/>
              </a:xfrm>
              <a:prstGeom prst="rect">
                <a:avLst/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1"/>
              <p:cNvSpPr/>
              <p:nvPr/>
            </p:nvSpPr>
            <p:spPr>
              <a:xfrm>
                <a:off x="0" y="114300"/>
                <a:ext cx="95400" cy="95400"/>
              </a:xfrm>
              <a:prstGeom prst="rect">
                <a:avLst/>
              </a:pr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1"/>
              <p:cNvSpPr/>
              <p:nvPr/>
            </p:nvSpPr>
            <p:spPr>
              <a:xfrm>
                <a:off x="114300" y="114300"/>
                <a:ext cx="95400" cy="95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1"/>
              <p:cNvSpPr txBox="1"/>
              <p:nvPr/>
            </p:nvSpPr>
            <p:spPr>
              <a:xfrm>
                <a:off x="285750" y="-47625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FFFFF"/>
                    </a:solidFill>
                    <a:latin typeface="Sora"/>
                    <a:ea typeface="Sora"/>
                    <a:cs typeface="Sora"/>
                    <a:sym typeface="Sora"/>
                  </a:rPr>
                  <a:t>LabIntel</a:t>
                </a:r>
                <a:endParaRPr b="1" sz="16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2" name="Google Shape;202;p21"/>
          <p:cNvGrpSpPr/>
          <p:nvPr/>
        </p:nvGrpSpPr>
        <p:grpSpPr>
          <a:xfrm>
            <a:off x="381000" y="1238250"/>
            <a:ext cx="4095900" cy="2952900"/>
            <a:chOff x="381000" y="1238250"/>
            <a:chExt cx="4095900" cy="2952900"/>
          </a:xfrm>
        </p:grpSpPr>
        <p:sp>
          <p:nvSpPr>
            <p:cNvPr id="203" name="Google Shape;203;p21"/>
            <p:cNvSpPr/>
            <p:nvPr/>
          </p:nvSpPr>
          <p:spPr>
            <a:xfrm>
              <a:off x="381000" y="1238250"/>
              <a:ext cx="4095900" cy="2952900"/>
            </a:xfrm>
            <a:prstGeom prst="roundRect">
              <a:avLst>
                <a:gd fmla="val 387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571500" y="142875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Subscription Tiers</a:t>
              </a:r>
              <a:endParaRPr b="1" sz="10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grpSp>
          <p:nvGrpSpPr>
            <p:cNvPr id="205" name="Google Shape;205;p21"/>
            <p:cNvGrpSpPr/>
            <p:nvPr/>
          </p:nvGrpSpPr>
          <p:grpSpPr>
            <a:xfrm>
              <a:off x="571500" y="1762125"/>
              <a:ext cx="3714900" cy="666900"/>
              <a:chOff x="0" y="0"/>
              <a:chExt cx="3714900" cy="666900"/>
            </a:xfrm>
          </p:grpSpPr>
          <p:sp>
            <p:nvSpPr>
              <p:cNvPr id="206" name="Google Shape;206;p21"/>
              <p:cNvSpPr/>
              <p:nvPr/>
            </p:nvSpPr>
            <p:spPr>
              <a:xfrm>
                <a:off x="0" y="0"/>
                <a:ext cx="3714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1"/>
              <p:cNvSpPr txBox="1"/>
              <p:nvPr/>
            </p:nvSpPr>
            <p:spPr>
              <a:xfrm>
                <a:off x="142875" y="9525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Sora"/>
                    <a:ea typeface="Sora"/>
                    <a:cs typeface="Sora"/>
                    <a:sym typeface="Sora"/>
                  </a:rPr>
                  <a:t>STARTER </a:t>
                </a:r>
                <a:r>
                  <a:rPr b="1" lang="en" sz="1200">
                    <a:solidFill>
                      <a:srgbClr val="2ECC71"/>
                    </a:solidFill>
                    <a:latin typeface="Sora"/>
                    <a:ea typeface="Sora"/>
                    <a:cs typeface="Sora"/>
                    <a:sym typeface="Sora"/>
                  </a:rPr>
                  <a:t>₹999 / mo</a:t>
                </a:r>
                <a:endParaRPr b="1" sz="12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Up to 200 reports · AI summaries · PDF · Patient portal</a:t>
                </a:r>
                <a:endParaRPr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08" name="Google Shape;208;p21"/>
            <p:cNvGrpSpPr/>
            <p:nvPr/>
          </p:nvGrpSpPr>
          <p:grpSpPr>
            <a:xfrm>
              <a:off x="571500" y="2428875"/>
              <a:ext cx="3714900" cy="762150"/>
              <a:chOff x="0" y="-95250"/>
              <a:chExt cx="3714900" cy="762150"/>
            </a:xfrm>
          </p:grpSpPr>
          <p:sp>
            <p:nvSpPr>
              <p:cNvPr id="209" name="Google Shape;209;p21"/>
              <p:cNvSpPr/>
              <p:nvPr/>
            </p:nvSpPr>
            <p:spPr>
              <a:xfrm>
                <a:off x="0" y="0"/>
                <a:ext cx="3714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16A08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2762250" y="-95250"/>
                <a:ext cx="8574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F1C40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1"/>
              <p:cNvSpPr txBox="1"/>
              <p:nvPr/>
            </p:nvSpPr>
            <p:spPr>
              <a:xfrm>
                <a:off x="2762250" y="-9525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0F172A"/>
                    </a:solidFill>
                    <a:latin typeface="Sora ExtraBold"/>
                    <a:ea typeface="Sora ExtraBold"/>
                    <a:cs typeface="Sora ExtraBold"/>
                    <a:sym typeface="Sora ExtraBold"/>
                  </a:rPr>
                  <a:t>MOST POPULAR</a:t>
                </a:r>
                <a:endParaRPr b="0" sz="700">
                  <a:solidFill>
                    <a:srgbClr val="0F172A"/>
                  </a:solidFill>
                  <a:latin typeface="Sora ExtraBold"/>
                  <a:ea typeface="Sora ExtraBold"/>
                  <a:cs typeface="Sora ExtraBold"/>
                  <a:sym typeface="Sora ExtraBold"/>
                </a:endParaRPr>
              </a:p>
            </p:txBody>
          </p:sp>
          <p:sp>
            <p:nvSpPr>
              <p:cNvPr id="212" name="Google Shape;212;p21"/>
              <p:cNvSpPr txBox="1"/>
              <p:nvPr/>
            </p:nvSpPr>
            <p:spPr>
              <a:xfrm>
                <a:off x="142875" y="9525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Sora"/>
                    <a:ea typeface="Sora"/>
                    <a:cs typeface="Sora"/>
                    <a:sym typeface="Sora"/>
                  </a:rPr>
                  <a:t>GROWTH </a:t>
                </a:r>
                <a:r>
                  <a:rPr b="1" lang="en" sz="1200">
                    <a:solidFill>
                      <a:srgbClr val="2ECC71"/>
                    </a:solidFill>
                    <a:latin typeface="Sora"/>
                    <a:ea typeface="Sora"/>
                    <a:cs typeface="Sora"/>
                    <a:sym typeface="Sora"/>
                  </a:rPr>
                  <a:t>₹2,499 / mo</a:t>
                </a:r>
                <a:endParaRPr b="1" sz="12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Up to 1,000 reports · SMS delivery · Timeline · Alerts</a:t>
                </a:r>
                <a:endParaRPr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13" name="Google Shape;213;p21"/>
            <p:cNvGrpSpPr/>
            <p:nvPr/>
          </p:nvGrpSpPr>
          <p:grpSpPr>
            <a:xfrm>
              <a:off x="571500" y="3286125"/>
              <a:ext cx="3714900" cy="666900"/>
              <a:chOff x="0" y="0"/>
              <a:chExt cx="3714900" cy="666900"/>
            </a:xfrm>
          </p:grpSpPr>
          <p:sp>
            <p:nvSpPr>
              <p:cNvPr id="214" name="Google Shape;214;p21"/>
              <p:cNvSpPr/>
              <p:nvPr/>
            </p:nvSpPr>
            <p:spPr>
              <a:xfrm>
                <a:off x="0" y="0"/>
                <a:ext cx="3714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1"/>
              <p:cNvSpPr txBox="1"/>
              <p:nvPr/>
            </p:nvSpPr>
            <p:spPr>
              <a:xfrm>
                <a:off x="142875" y="9525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Sora"/>
                    <a:ea typeface="Sora"/>
                    <a:cs typeface="Sora"/>
                    <a:sym typeface="Sora"/>
                  </a:rPr>
                  <a:t>PRO </a:t>
                </a:r>
                <a:r>
                  <a:rPr b="1" lang="en" sz="1200">
                    <a:solidFill>
                      <a:srgbClr val="2ECC71"/>
                    </a:solidFill>
                    <a:latin typeface="Sora"/>
                    <a:ea typeface="Sora"/>
                    <a:cs typeface="Sora"/>
                    <a:sym typeface="Sora"/>
                  </a:rPr>
                  <a:t>₹4,999 / mo</a:t>
                </a:r>
                <a:endParaRPr b="1" sz="12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94A3B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Unlimited · Multi-branch · API · Priority support</a:t>
                </a:r>
                <a:endParaRPr sz="9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16" name="Google Shape;216;p21"/>
          <p:cNvGrpSpPr/>
          <p:nvPr/>
        </p:nvGrpSpPr>
        <p:grpSpPr>
          <a:xfrm>
            <a:off x="4667250" y="1238250"/>
            <a:ext cx="4095900" cy="2952825"/>
            <a:chOff x="4667250" y="1238250"/>
            <a:chExt cx="4095900" cy="2952825"/>
          </a:xfrm>
        </p:grpSpPr>
        <p:sp>
          <p:nvSpPr>
            <p:cNvPr id="217" name="Google Shape;217;p21"/>
            <p:cNvSpPr/>
            <p:nvPr/>
          </p:nvSpPr>
          <p:spPr>
            <a:xfrm>
              <a:off x="4667250" y="1238250"/>
              <a:ext cx="4095900" cy="1381200"/>
            </a:xfrm>
            <a:prstGeom prst="roundRect">
              <a:avLst>
                <a:gd fmla="val 827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4857750" y="1381125"/>
              <a:ext cx="3714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Addressable Market</a:t>
              </a:r>
              <a:endParaRPr b="1" sz="9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1,00,000 independent labs in India × ₹2,499 avg monthly plan</a:t>
              </a:r>
              <a:endParaRPr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3498DB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₹250 Cr</a:t>
              </a:r>
              <a:endParaRPr b="0" sz="2400">
                <a:solidFill>
                  <a:srgbClr val="3498DB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Monthly potential</a:t>
              </a:r>
              <a:endParaRPr b="0" sz="10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4667250" y="2809875"/>
              <a:ext cx="4095900" cy="1381200"/>
            </a:xfrm>
            <a:prstGeom prst="roundRect">
              <a:avLst>
                <a:gd fmla="val 827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4857750" y="2952750"/>
              <a:ext cx="3714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98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Realistic Target (Year 2)</a:t>
              </a:r>
              <a:endParaRPr b="1" sz="698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75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10,000 labs (10% market) × ₹2,499 price</a:t>
              </a:r>
              <a:endParaRPr sz="775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₹2.5 Cr</a:t>
              </a:r>
              <a:endParaRPr b="0" sz="155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2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MRR</a:t>
              </a:r>
              <a:endParaRPr b="1" sz="62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2ECC71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₹30 Cr</a:t>
              </a:r>
              <a:endParaRPr b="0" sz="1550">
                <a:solidFill>
                  <a:srgbClr val="2ECC71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20">
                  <a:solidFill>
                    <a:srgbClr val="94A3B8"/>
                  </a:solidFill>
                  <a:latin typeface="Sora"/>
                  <a:ea typeface="Sora"/>
                  <a:cs typeface="Sora"/>
                  <a:sym typeface="Sora"/>
                </a:rPr>
                <a:t>ARR</a:t>
              </a:r>
              <a:endParaRPr b="1" sz="62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221" name="Google Shape;221;p21"/>
          <p:cNvGrpSpPr/>
          <p:nvPr/>
        </p:nvGrpSpPr>
        <p:grpSpPr>
          <a:xfrm>
            <a:off x="0" y="4476750"/>
            <a:ext cx="9144000" cy="666900"/>
            <a:chOff x="0" y="4476750"/>
            <a:chExt cx="9144000" cy="666900"/>
          </a:xfrm>
        </p:grpSpPr>
        <p:sp>
          <p:nvSpPr>
            <p:cNvPr id="222" name="Google Shape;222;p21"/>
            <p:cNvSpPr/>
            <p:nvPr/>
          </p:nvSpPr>
          <p:spPr>
            <a:xfrm>
              <a:off x="0" y="4476750"/>
              <a:ext cx="9144000" cy="666900"/>
            </a:xfrm>
            <a:prstGeom prst="rect">
              <a:avLst/>
            </a:prstGeom>
            <a:solidFill>
              <a:srgbClr val="16A08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381000" y="4476750"/>
              <a:ext cx="838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FFFFF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"We are not building a feature. We are building infrastructure. The labs that adopt LabIntel first will never switch — because their patient data lives here."</a:t>
              </a:r>
              <a:endParaRPr b="0" sz="1150">
                <a:solidFill>
                  <a:srgbClr val="FFFFFF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very dark, moody, cinematic close-up of a doctor's weathered hands or a humble medical clinic in rural India, blurred and out of focus. Professional photography, high contrast, soulful.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228" name="Google Shape;228;p22"/>
          <p:cNvGrpSpPr/>
          <p:nvPr/>
        </p:nvGrpSpPr>
        <p:grpSpPr>
          <a:xfrm>
            <a:off x="952500" y="571500"/>
            <a:ext cx="7239000" cy="4000500"/>
            <a:chOff x="952500" y="571500"/>
            <a:chExt cx="7239000" cy="4000500"/>
          </a:xfrm>
        </p:grpSpPr>
        <p:sp>
          <p:nvSpPr>
            <p:cNvPr id="229" name="Google Shape;229;p22"/>
            <p:cNvSpPr txBox="1"/>
            <p:nvPr/>
          </p:nvSpPr>
          <p:spPr>
            <a:xfrm>
              <a:off x="952500" y="571500"/>
              <a:ext cx="723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"We used to spend 3 hours on reports every morning. Now it takes 20 minutes."</a:t>
              </a:r>
              <a:endParaRPr b="0" i="1" sz="18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2ECC71"/>
                  </a:solidFill>
                  <a:latin typeface="DM Sans"/>
                  <a:ea typeface="DM Sans"/>
                  <a:cs typeface="DM Sans"/>
                  <a:sym typeface="DM Sans"/>
                </a:rPr>
                <a:t>— Lab owner, Siliguri</a:t>
              </a:r>
              <a:endParaRPr b="1" i="0" sz="1200">
                <a:solidFill>
                  <a:srgbClr val="2ECC7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952500" y="1714500"/>
              <a:ext cx="1143000" cy="960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952500" y="1905000"/>
              <a:ext cx="723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"My mother received her report on Mobile. She played the voice narration three times. She said — finally, someone explained it to me."</a:t>
              </a:r>
              <a:endParaRPr b="0" i="1" sz="18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2ECC71"/>
                  </a:solidFill>
                  <a:latin typeface="DM Sans"/>
                  <a:ea typeface="DM Sans"/>
                  <a:cs typeface="DM Sans"/>
                  <a:sym typeface="DM Sans"/>
                </a:rPr>
                <a:t>— Patient's son, Haldia</a:t>
              </a:r>
              <a:endParaRPr b="1" i="0" sz="1200">
                <a:solidFill>
                  <a:srgbClr val="2ECC7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952500" y="3238500"/>
              <a:ext cx="1143000" cy="960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952500" y="3429000"/>
              <a:ext cx="723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"I have been running this lab for 12 years. I never knew which tests were growing my business. Now I know. Every morning. Before chai."</a:t>
              </a:r>
              <a:endParaRPr b="0" i="1" sz="18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2ECC71"/>
                  </a:solidFill>
                  <a:latin typeface="DM Sans"/>
                  <a:ea typeface="DM Sans"/>
                  <a:cs typeface="DM Sans"/>
                  <a:sym typeface="DM Sans"/>
                </a:rPr>
                <a:t>— Lab Director, Haldia</a:t>
              </a:r>
              <a:endParaRPr b="1" i="0" sz="1200">
                <a:solidFill>
                  <a:srgbClr val="2ECC7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4" name="Google Shape;234;p22"/>
          <p:cNvSpPr txBox="1"/>
          <p:nvPr/>
        </p:nvSpPr>
        <p:spPr>
          <a:xfrm>
            <a:off x="571500" y="4667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ECC71"/>
                </a:solidFill>
                <a:latin typeface="Sora SemiBold"/>
                <a:ea typeface="Sora SemiBold"/>
                <a:cs typeface="Sora SemiBold"/>
                <a:sym typeface="Sora SemiBold"/>
              </a:rPr>
              <a:t>These are the people we built this for. This is why we built it.</a:t>
            </a:r>
            <a:endParaRPr b="0" sz="1100">
              <a:solidFill>
                <a:srgbClr val="2ECC7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2ECC71"/>
                </a:solidFill>
                <a:latin typeface="Sora"/>
                <a:ea typeface="Sora"/>
                <a:cs typeface="Sora"/>
                <a:sym typeface="Sora"/>
              </a:rPr>
              <a:t>She got home. She opened LabIntel. She understood her report. For the first time. In her life.</a:t>
            </a:r>
            <a:endParaRPr b="0" sz="1400">
              <a:solidFill>
                <a:srgbClr val="2ECC7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1333500"/>
            <a:ext cx="8001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5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"She's okay. She knows it. Because of us."</a:t>
            </a:r>
            <a:endParaRPr b="0" sz="450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2857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94A3B8"/>
                </a:solidFill>
                <a:latin typeface="Sora"/>
                <a:ea typeface="Sora"/>
                <a:cs typeface="Sora"/>
                <a:sym typeface="Sora"/>
              </a:rPr>
              <a:t>LabIntel is live. The demo you saw was real. The lab in Haldia is real.</a:t>
            </a:r>
            <a:endParaRPr b="0" sz="1800">
              <a:solidFill>
                <a:srgbClr val="94A3B8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0" y="400050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23"/>
          <p:cNvGrpSpPr/>
          <p:nvPr/>
        </p:nvGrpSpPr>
        <p:grpSpPr>
          <a:xfrm>
            <a:off x="571500" y="4143375"/>
            <a:ext cx="8001000" cy="571500"/>
            <a:chOff x="571500" y="4143375"/>
            <a:chExt cx="8001000" cy="571500"/>
          </a:xfrm>
        </p:grpSpPr>
        <p:sp>
          <p:nvSpPr>
            <p:cNvPr id="243" name="Google Shape;243;p23"/>
            <p:cNvSpPr txBox="1"/>
            <p:nvPr/>
          </p:nvSpPr>
          <p:spPr>
            <a:xfrm>
              <a:off x="571500" y="4143375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Sora"/>
                  <a:ea typeface="Sora"/>
                  <a:cs typeface="Sora"/>
                  <a:sym typeface="Sora"/>
                </a:rPr>
                <a:t>labintelorg.vercel.app</a:t>
              </a:r>
              <a:endParaRPr b="0" sz="1100">
                <a:solidFill>
                  <a:srgbClr val="CBD5E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Sora"/>
                  <a:ea typeface="Sora"/>
                  <a:cs typeface="Sora"/>
                  <a:sym typeface="Sora"/>
                </a:rPr>
                <a:t>https://github.com/Labintel-dev/Labintel</a:t>
              </a:r>
              <a:endParaRPr b="0" sz="1100">
                <a:solidFill>
                  <a:srgbClr val="CBD5E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4572000" y="4143375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FFFFFF"/>
                  </a:solidFill>
                  <a:latin typeface="Sora ExtraBold"/>
                  <a:ea typeface="Sora ExtraBold"/>
                  <a:cs typeface="Sora ExtraBold"/>
                  <a:sym typeface="Sora ExtraBold"/>
                </a:rPr>
                <a:t>We are LabIntel. We built this for 500 million Indians. Thank you.</a:t>
              </a:r>
              <a:endParaRPr b="0" sz="175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endParaRPr>
            </a:p>
          </p:txBody>
        </p:sp>
      </p:grpSp>
      <p:sp>
        <p:nvSpPr>
          <p:cNvPr id="245" name="Google Shape;245;p23"/>
          <p:cNvSpPr txBox="1"/>
          <p:nvPr/>
        </p:nvSpPr>
        <p:spPr>
          <a:xfrm>
            <a:off x="571500" y="4905375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334155"/>
                </a:solidFill>
                <a:latin typeface="Sora"/>
                <a:ea typeface="Sora"/>
                <a:cs typeface="Sora"/>
                <a:sym typeface="Sora"/>
              </a:rPr>
              <a:t>The paper report on page 1 belongs to a real person. She got her results today. She understood them.</a:t>
            </a:r>
            <a:endParaRPr b="0" sz="700">
              <a:solidFill>
                <a:srgbClr val="33415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46" name="Google Shape;246;p23" title="LabintelQ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2525" y="4000500"/>
            <a:ext cx="879475" cy="8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